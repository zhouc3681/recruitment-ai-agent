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8D8"/>
                </a:solidFill>
              </a:defRPr>
            </a:pPr>
            <a:r>
              <a:rPr sz="1350" b="1">
                <a:solidFill>
                  <a:srgbClr val="0878D8"/>
                </a:solidFill>
              </a:rPr>
              <a:t>功能演示文档</a:t>
            </a:r>
            <a:endParaRPr sz="135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466850"/>
            <a:ext cx="561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42033"/>
                </a:solidFill>
              </a:defRPr>
            </a:pPr>
            <a:r>
              <a:rPr sz="4200" b="1">
                <a:solidFill>
                  <a:srgbClr val="142033"/>
                </a:solidFill>
              </a:rPr>
              <a:t>HR 招聘数据</a:t>
            </a:r>
            <a:endParaRPr sz="4200" b="1">
              <a:solidFill>
                <a:srgbClr val="142033"/>
              </a:solidFill>
            </a:endParaRPr>
          </a:p>
          <a:p>
            <a:pPr algn="l">
              <a:defRPr sz="4200" b="1">
                <a:solidFill>
                  <a:srgbClr val="142033"/>
                </a:solidFill>
              </a:defRPr>
            </a:pPr>
            <a:r>
              <a:rPr sz="4200" b="1">
                <a:solidFill>
                  <a:srgbClr val="142033"/>
                </a:solidFill>
              </a:rPr>
              <a:t>自动录入助手</a:t>
            </a:r>
            <a:endParaRPr sz="420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257550"/>
            <a:ext cx="581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围绕企业微信、企业微信群、腾讯在线文档，演示“消息进入 -&gt; AI抽取 -&gt; 缺失核验 -&gt; HR确认 -&gt; 自动入库 -&gt; 看板同步”的完整闭环。</a:t>
            </a:r>
            <a:endParaRPr sz="1650" b="0">
              <a:solidFill>
                <a:srgbClr val="64748B"/>
              </a:solidFill>
            </a:endParaRPr>
          </a:p>
          <a:p>
            <a:pPr algn="l">
              <a:defRPr sz="1650" b="0">
                <a:solidFill>
                  <a:srgbClr val="64748B"/>
                </a:solidFill>
              </a:defRPr>
            </a:pPr>
            <a:endParaRPr sz="1650" b="0">
              <a:solidFill>
                <a:srgbClr val="64748B"/>
              </a:solidFill>
            </a:endParaRPr>
          </a:p>
          <a:p>
            <a:pPr algn="l">
              <a:defRPr sz="1650" b="0">
                <a:solidFill>
                  <a:srgbClr val="64748B"/>
                </a:solidFill>
              </a:defRPr>
            </a:pPr>
            <a:r>
              <a:rPr lang="zh-CN" altLang="en-US" sz="1650" b="0">
                <a:solidFill>
                  <a:srgbClr val="64748B"/>
                </a:solidFill>
              </a:rPr>
              <a:t>周畅</a:t>
            </a:r>
            <a:endParaRPr lang="zh-CN" altLang="en-US" sz="1650" b="0">
              <a:solidFill>
                <a:srgbClr val="64748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4857750"/>
            <a:ext cx="16192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50101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9D55"/>
                </a:solidFill>
              </a:defRPr>
            </a:pPr>
            <a:r>
              <a:rPr sz="2550" b="1">
                <a:solidFill>
                  <a:srgbClr val="1F9D55"/>
                </a:solidFill>
              </a:rPr>
              <a:t>89%</a:t>
            </a:r>
            <a:endParaRPr sz="2550" b="1">
              <a:solidFill>
                <a:srgbClr val="1F9D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54673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预计减少人工录入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343150" y="4857750"/>
            <a:ext cx="16192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2514600" y="50101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C9A9A"/>
                </a:solidFill>
              </a:defRPr>
            </a:pPr>
            <a:r>
              <a:rPr sz="2550" b="1">
                <a:solidFill>
                  <a:srgbClr val="0C9A9A"/>
                </a:solidFill>
              </a:rPr>
              <a:t>22h</a:t>
            </a:r>
            <a:endParaRPr sz="2550" b="1">
              <a:solidFill>
                <a:srgbClr val="0C9A9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14600" y="54673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每周节省时间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33850" y="4857750"/>
            <a:ext cx="16192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4305300" y="50101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78D8"/>
                </a:solidFill>
              </a:defRPr>
            </a:pPr>
            <a:r>
              <a:rPr sz="2550" b="1">
                <a:solidFill>
                  <a:srgbClr val="0878D8"/>
                </a:solidFill>
              </a:rPr>
              <a:t>22条</a:t>
            </a:r>
            <a:endParaRPr sz="2550" b="1">
              <a:solidFill>
                <a:srgbClr val="0878D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05300" y="54673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候选人样例</a:t>
            </a:r>
            <a:endParaRPr sz="1200" b="0">
              <a:solidFill>
                <a:srgbClr val="64748B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l="17417" r="17417"/>
          <a:stretch>
            <a:fillRect/>
          </a:stretch>
        </p:blipFill>
        <p:spPr>
          <a:xfrm>
            <a:off x="6762750" y="838200"/>
            <a:ext cx="4857750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01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01 / 主流程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3 秒理解系统在做什么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这不是表单录入器，而是一条持续运行的数据自动化链路。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264795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椭圆 5"/>
          <p:cNvSpPr>
            <a:spLocks noGrp="1"/>
          </p:cNvSpPr>
          <p:nvPr/>
        </p:nvSpPr>
        <p:spPr>
          <a:xfrm>
            <a:off x="723900" y="2876550"/>
            <a:ext cx="342900" cy="342900"/>
          </a:xfrm>
          <a:prstGeom prst="ellipse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9241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29146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消息进入</a:t>
            </a:r>
            <a:endParaRPr sz="1500" b="1">
              <a:solidFill>
                <a:srgbClr val="14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438400" y="264795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椭圆 9"/>
          <p:cNvSpPr>
            <a:spLocks noGrp="1"/>
          </p:cNvSpPr>
          <p:nvPr/>
        </p:nvSpPr>
        <p:spPr>
          <a:xfrm>
            <a:off x="2628900" y="2876550"/>
            <a:ext cx="342900" cy="342900"/>
          </a:xfrm>
          <a:prstGeom prst="ellipse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28900" y="29241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86100" y="29146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AI抽取</a:t>
            </a:r>
            <a:endParaRPr sz="1500" b="1">
              <a:solidFill>
                <a:srgbClr val="14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43400" y="264795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椭圆 13"/>
          <p:cNvSpPr>
            <a:spLocks noGrp="1"/>
          </p:cNvSpPr>
          <p:nvPr/>
        </p:nvSpPr>
        <p:spPr>
          <a:xfrm>
            <a:off x="4533900" y="2876550"/>
            <a:ext cx="342900" cy="342900"/>
          </a:xfrm>
          <a:prstGeom prst="ellipse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33900" y="29241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91100" y="29146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缺失核验</a:t>
            </a:r>
            <a:endParaRPr sz="1500" b="1">
              <a:solidFill>
                <a:srgbClr val="14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248400" y="264795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/>
        </p:nvSpPr>
        <p:spPr>
          <a:xfrm>
            <a:off x="6438900" y="2876550"/>
            <a:ext cx="342900" cy="342900"/>
          </a:xfrm>
          <a:prstGeom prst="ellipse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38900" y="29241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96100" y="29146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HR确认</a:t>
            </a:r>
            <a:endParaRPr sz="1500" b="1">
              <a:solidFill>
                <a:srgbClr val="14203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153400" y="264795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椭圆 21"/>
          <p:cNvSpPr>
            <a:spLocks noGrp="1"/>
          </p:cNvSpPr>
          <p:nvPr/>
        </p:nvSpPr>
        <p:spPr>
          <a:xfrm>
            <a:off x="8343900" y="2876550"/>
            <a:ext cx="342900" cy="342900"/>
          </a:xfrm>
          <a:prstGeom prst="ellipse">
            <a:avLst/>
          </a:prstGeom>
          <a:solidFill>
            <a:srgbClr val="0C9A9A"/>
          </a:solidFill>
          <a:ln w="0">
            <a:solidFill>
              <a:srgbClr val="0C9A9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43900" y="29241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01100" y="29146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自动入库</a:t>
            </a:r>
            <a:endParaRPr sz="1500" b="1">
              <a:solidFill>
                <a:srgbClr val="14203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058400" y="264795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椭圆 25"/>
          <p:cNvSpPr>
            <a:spLocks noGrp="1"/>
          </p:cNvSpPr>
          <p:nvPr/>
        </p:nvSpPr>
        <p:spPr>
          <a:xfrm>
            <a:off x="10248900" y="2876550"/>
            <a:ext cx="342900" cy="342900"/>
          </a:xfrm>
          <a:prstGeom prst="ellipse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248900" y="29241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706100" y="29146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看板同步</a:t>
            </a:r>
            <a:endParaRPr sz="1500" b="1">
              <a:solidFill>
                <a:srgbClr val="14203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33400" y="4095750"/>
            <a:ext cx="33337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4095750"/>
            <a:ext cx="66675" cy="1104900"/>
          </a:xfrm>
          <a:prstGeom prst="rect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42672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替代重复录入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461010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候选人信息从消息和表格直接进入工作台。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438650" y="4095750"/>
            <a:ext cx="33337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矩形 33"/>
          <p:cNvSpPr>
            <a:spLocks noGrp="1"/>
          </p:cNvSpPr>
          <p:nvPr/>
        </p:nvSpPr>
        <p:spPr>
          <a:xfrm>
            <a:off x="4438650" y="4095750"/>
            <a:ext cx="66675" cy="11049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686300" y="42672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降低遗漏风险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686300" y="461010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缺失字段自动打标，低置信度进入待核验池。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343900" y="4095750"/>
            <a:ext cx="33337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矩形 37"/>
          <p:cNvSpPr>
            <a:spLocks noGrp="1"/>
          </p:cNvSpPr>
          <p:nvPr/>
        </p:nvSpPr>
        <p:spPr>
          <a:xfrm>
            <a:off x="8343900" y="4095750"/>
            <a:ext cx="66675" cy="1104900"/>
          </a:xfrm>
          <a:prstGeom prst="rect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591550" y="42672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实时同步看板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91550" y="461010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入库后候选人库、漏斗和统计指标同步刷新。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02 / 招聘驾驶舱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管理层打开即看结果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核心指标聚焦：今天新增、待确认、待补充、已入库、今日同步、录入提效。</a:t>
            </a:r>
            <a:endParaRPr sz="1425" b="0">
              <a:solidFill>
                <a:srgbClr val="64748B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4691" b="4691"/>
          <a:stretch>
            <a:fillRect/>
          </a:stretch>
        </p:blipFill>
        <p:spPr>
          <a:xfrm>
            <a:off x="4008120" y="1638300"/>
            <a:ext cx="723900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33400" y="17145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714500"/>
            <a:ext cx="66675" cy="1104900"/>
          </a:xfrm>
          <a:prstGeom prst="rect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8859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ROI 直观可见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2288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人工 3 分钟/人，AI 20 秒/人，日均 50 人时约节省 133 分钟/天。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30480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3048000"/>
            <a:ext cx="66675" cy="1104900"/>
          </a:xfrm>
          <a:prstGeom prst="rect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194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事件流持续工作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5623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右侧日志展示采集、抽取、核验、入库、同步的实时动作。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33400" y="43815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4381500"/>
            <a:ext cx="66675" cy="11049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5529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风险优先处理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8958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待确认、待补充、待核验不会被混入正常入库数据。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03 / 自动采集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从企业微信和腾讯文档进入系统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支持群聊、私聊、腾讯文档表格文本与面试反馈模板，减少人工复制粘贴。</a:t>
            </a:r>
            <a:endParaRPr sz="1425" b="0">
              <a:solidFill>
                <a:srgbClr val="64748B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3608" b="3608"/>
          <a:stretch>
            <a:fillRect/>
          </a:stretch>
        </p:blipFill>
        <p:spPr>
          <a:xfrm>
            <a:off x="4229100" y="1504950"/>
            <a:ext cx="7391400" cy="4381500"/>
          </a:xfrm>
          <a:prstGeom prst="roundRect">
            <a:avLst>
              <a:gd name="adj" fmla="val 2609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33400" y="169545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695450"/>
            <a:ext cx="66675" cy="1104900"/>
          </a:xfrm>
          <a:prstGeom prst="rect">
            <a:avLst/>
          </a:prstGeom>
          <a:solidFill>
            <a:srgbClr val="0C9A9A"/>
          </a:solidFill>
          <a:ln w="0">
            <a:solidFill>
              <a:srgbClr val="0C9A9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866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企业微信消息气泡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2098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模拟推荐人、HR、部门负责人的真实聊天上下文。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302895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3028950"/>
            <a:ext cx="66675" cy="1104900"/>
          </a:xfrm>
          <a:prstGeom prst="rect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004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腾讯文档导入样式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5433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表格文本可按行解析，适合批量同步候选人。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33400" y="436245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4362450"/>
            <a:ext cx="66675" cy="1104900"/>
          </a:xfrm>
          <a:prstGeom prst="rect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533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Webhook 可替换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8768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PoC 用按钮模拟，正式版可平滑升级企业微信回调。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04 / 抽取与核验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字段高亮、来源引用、缺失提醒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AI 输出不是黑箱：每个字段都保留来源句子，方便 HR 快速复核。</a:t>
            </a:r>
            <a:endParaRPr sz="1425" b="0">
              <a:solidFill>
                <a:srgbClr val="64748B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5029" b="5029"/>
          <a:stretch>
            <a:fillRect/>
          </a:stretch>
        </p:blipFill>
        <p:spPr>
          <a:xfrm>
            <a:off x="4008120" y="1543050"/>
            <a:ext cx="7658100" cy="4400550"/>
          </a:xfrm>
          <a:prstGeom prst="roundRect">
            <a:avLst>
              <a:gd name="adj" fmla="val 2597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33400" y="17526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752600"/>
            <a:ext cx="66675" cy="1104900"/>
          </a:xfrm>
          <a:prstGeom prst="rect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24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字段完整度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2669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完整度进度条展示是否具备入库条件。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30861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3086100"/>
            <a:ext cx="66675" cy="1104900"/>
          </a:xfrm>
          <a:prstGeom prst="rect">
            <a:avLst/>
          </a:prstGeom>
          <a:solidFill>
            <a:srgbClr val="C2413A"/>
          </a:solidFill>
          <a:ln w="0">
            <a:solidFill>
              <a:srgbClr val="C241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57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Bad Case 机制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6004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低于 80% 进入待核验池，不能直接入库。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33400" y="44196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4419600"/>
            <a:ext cx="66675" cy="1104900"/>
          </a:xfrm>
          <a:prstGeom prst="rect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批量确认入库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9339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HR 勾选多名候选人后统一确认写入。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05 / 候选人中心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详情页用于复核，不展示复杂代码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左侧看基础信息和完整度，右侧看字段审计链与同步状态，底部保留原始记录和 JSON。</a:t>
            </a:r>
            <a:endParaRPr sz="1425" b="0">
              <a:solidFill>
                <a:srgbClr val="64748B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4184" b="4184"/>
          <a:stretch>
            <a:fillRect/>
          </a:stretch>
        </p:blipFill>
        <p:spPr>
          <a:xfrm>
            <a:off x="4038600" y="1485900"/>
            <a:ext cx="7581900" cy="4438650"/>
          </a:xfrm>
          <a:prstGeom prst="roundRect">
            <a:avLst>
              <a:gd name="adj" fmla="val 2575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33400" y="17526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752600"/>
            <a:ext cx="66675" cy="1104900"/>
          </a:xfrm>
          <a:prstGeom prst="rect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24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字段审计链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2669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字段名、字段值、来源渠道、定位行号、原文引用完整保留。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30861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3086100"/>
            <a:ext cx="66675" cy="1104900"/>
          </a:xfrm>
          <a:prstGeom prst="rect">
            <a:avLst/>
          </a:prstGeom>
          <a:solidFill>
            <a:srgbClr val="0C9A9A"/>
          </a:solidFill>
          <a:ln w="0">
            <a:solidFill>
              <a:srgbClr val="0C9A9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57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同步摘要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6004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展示入库策略、当前阶段、最近更新时间。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33400" y="44196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4419600"/>
            <a:ext cx="66675" cy="11049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HR 确认记录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9339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保留人在回路确认，降低误同步风险。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06 / RAG 知识库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JD 点击切换后解释同步变化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点击岗位 JD，Agent 可解释回答会同步更新使用的 JD 规则、风险原因和历史案例。</a:t>
            </a:r>
            <a:endParaRPr sz="1425" b="0">
              <a:solidFill>
                <a:srgbClr val="64748B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5005" b="5005"/>
          <a:stretch>
            <a:fillRect/>
          </a:stretch>
        </p:blipFill>
        <p:spPr>
          <a:xfrm>
            <a:off x="3863975" y="1504950"/>
            <a:ext cx="7753350" cy="4457700"/>
          </a:xfrm>
          <a:prstGeom prst="roundRect">
            <a:avLst>
              <a:gd name="adj" fmla="val 2564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33400" y="17526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752600"/>
            <a:ext cx="66675" cy="1104900"/>
          </a:xfrm>
          <a:prstGeom prst="rect">
            <a:avLst/>
          </a:prstGeom>
          <a:solidFill>
            <a:srgbClr val="0878D8"/>
          </a:solidFill>
          <a:ln w="0">
            <a:solidFill>
              <a:srgbClr val="087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24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岗位 JD 库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2669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覆盖技术、产品、数据、市场、销售、HR 等岗位示例。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30861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3086100"/>
            <a:ext cx="66675" cy="1104900"/>
          </a:xfrm>
          <a:prstGeom prst="rect">
            <a:avLst/>
          </a:prstGeom>
          <a:solidFill>
            <a:srgbClr val="0C9A9A"/>
          </a:solidFill>
          <a:ln w="0">
            <a:solidFill>
              <a:srgbClr val="0C9A9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57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历史案例引用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6004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录用/淘汰案例用于解释为什么推进或暂缓。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33400" y="4419600"/>
            <a:ext cx="31051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4419600"/>
            <a:ext cx="66675" cy="1104900"/>
          </a:xfrm>
          <a:prstGeom prst="rect">
            <a:avLst/>
          </a:prstGeom>
          <a:solidFill>
            <a:srgbClr val="1F9D55"/>
          </a:solidFill>
          <a:ln w="0">
            <a:solidFill>
              <a:srgbClr val="1F9D5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可解释而非拍脑袋</a:t>
            </a:r>
            <a:endParaRPr sz="1650" b="1">
              <a:solidFill>
                <a:srgbClr val="14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9339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评分说明包含规则、缺失项、风险和推荐理由。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07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07 / 现场演示脚本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15-20 秒跑完一条自动化链路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点击顶部“一键演示”，系统会自动播放从微信群推荐到看板刷新的全流程。</a:t>
            </a:r>
            <a:endParaRPr sz="1425" b="0">
              <a:solidFill>
                <a:srgbClr val="64748B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969" r="969"/>
          <a:stretch>
            <a:fillRect/>
          </a:stretch>
        </p:blipFill>
        <p:spPr>
          <a:xfrm>
            <a:off x="5016500" y="1628775"/>
            <a:ext cx="62865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椭圆 4"/>
          <p:cNvSpPr>
            <a:spLocks noGrp="1"/>
          </p:cNvSpPr>
          <p:nvPr/>
        </p:nvSpPr>
        <p:spPr>
          <a:xfrm>
            <a:off x="704850" y="1676400"/>
            <a:ext cx="342900" cy="342900"/>
          </a:xfrm>
          <a:prstGeom prst="ellipse">
            <a:avLst/>
          </a:prstGeom>
          <a:solidFill>
            <a:srgbClr val="0878D8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7335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19200" y="16954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收到企业微信群推荐消息</a:t>
            </a:r>
            <a:endParaRPr sz="1800" b="1">
              <a:solidFill>
                <a:srgbClr val="142033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704850" y="2400300"/>
            <a:ext cx="342900" cy="342900"/>
          </a:xfrm>
          <a:prstGeom prst="ellipse">
            <a:avLst/>
          </a:prstGeom>
          <a:solidFill>
            <a:srgbClr val="0878D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4574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24193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AI 抽取候选人字段</a:t>
            </a:r>
            <a:endParaRPr sz="1800" b="1">
              <a:solidFill>
                <a:srgbClr val="14203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704850" y="3124200"/>
            <a:ext cx="342900" cy="34290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3181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19200" y="31432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发现联系方式缺失</a:t>
            </a:r>
            <a:endParaRPr sz="1800" b="1">
              <a:solidFill>
                <a:srgbClr val="14203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04850" y="3848100"/>
            <a:ext cx="342900" cy="34290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39052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19200" y="38671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生成回访草稿，等待 HR 确认</a:t>
            </a:r>
            <a:endParaRPr sz="1800" b="1">
              <a:solidFill>
                <a:srgbClr val="142033"/>
              </a:solidFill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704850" y="4572000"/>
            <a:ext cx="342900" cy="342900"/>
          </a:xfrm>
          <a:prstGeom prst="ellipse">
            <a:avLst/>
          </a:prstGeom>
          <a:solidFill>
            <a:srgbClr val="1F9D5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46291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19200" y="45910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写入候选人库并刷新驾驶舱</a:t>
            </a:r>
            <a:endParaRPr sz="1800" b="1">
              <a:solidFill>
                <a:srgbClr val="14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878D8"/>
                </a:solidFill>
              </a:defRPr>
            </a:pPr>
            <a:r>
              <a:rPr sz="1200" b="1">
                <a:solidFill>
                  <a:srgbClr val="0878D8"/>
                </a:solidFill>
              </a:rPr>
              <a:t>08 / 交付物</a:t>
            </a:r>
            <a:endParaRPr sz="1200" b="1">
              <a:solidFill>
                <a:srgbClr val="0878D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评审查看和复现方式</a:t>
            </a:r>
            <a:endParaRPr sz="2850" b="1">
              <a:solidFill>
                <a:srgbClr val="1420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最终交付保持低成本 PoC 边界，前端 React，数据库/向量库/消息接入均可平滑升级。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695450"/>
            <a:ext cx="5124450" cy="3415030"/>
          </a:xfrm>
          <a:prstGeom prst="roundRect">
            <a:avLst>
              <a:gd name="adj" fmla="val 3750"/>
            </a:avLst>
          </a:prstGeom>
          <a:solidFill>
            <a:srgbClr val="F4F8FC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193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42033"/>
                </a:solidFill>
              </a:defRPr>
            </a:pPr>
            <a:r>
              <a:rPr sz="2250" b="1">
                <a:solidFill>
                  <a:srgbClr val="142033"/>
                </a:solidFill>
              </a:rPr>
              <a:t>直接打开预览</a:t>
            </a:r>
            <a:endParaRPr sz="2250" b="1">
              <a:solidFill>
                <a:srgbClr val="14203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609850"/>
            <a:ext cx="4286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recruitment-ai-agent-demo-preview.html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demo-preview.html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7338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42033"/>
                </a:solidFill>
              </a:defRPr>
            </a:pPr>
            <a:r>
              <a:rPr sz="1950" b="1">
                <a:solidFill>
                  <a:srgbClr val="142033"/>
                </a:solidFill>
              </a:rPr>
              <a:t>代码入口</a:t>
            </a:r>
            <a:endParaRPr sz="1950" b="1">
              <a:solidFill>
                <a:srgbClr val="1420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4171950"/>
            <a:ext cx="4286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src/main.jsx</a:t>
            </a:r>
            <a:endParaRPr sz="1425" b="0">
              <a:solidFill>
                <a:srgbClr val="64748B"/>
              </a:solidFill>
            </a:endParaRPr>
          </a:p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src/styles.css</a:t>
            </a:r>
            <a:endParaRPr sz="1425" b="0">
              <a:solidFill>
                <a:srgbClr val="64748B"/>
              </a:solidFill>
            </a:endParaRPr>
          </a:p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README.md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0" y="1695450"/>
            <a:ext cx="5010150" cy="341503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515100" y="20193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42033"/>
                </a:solidFill>
              </a:defRPr>
            </a:pPr>
            <a:r>
              <a:rPr sz="2250" b="1">
                <a:solidFill>
                  <a:srgbClr val="142033"/>
                </a:solidFill>
              </a:rPr>
              <a:t>可落地升级路径</a:t>
            </a:r>
            <a:endParaRPr sz="2250" b="1">
              <a:solidFill>
                <a:srgbClr val="14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15100" y="2628900"/>
            <a:ext cx="4095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Webhook 模拟 -&gt; 企业微信 API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localStorage -&gt; SQLite / ATS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内置案例 -&gt; Chroma RAG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规则抽取 -&gt; OpenAI 兼容接口 + JSON Schema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15100" y="4457700"/>
            <a:ext cx="4171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C9A9A"/>
                </a:solidFill>
              </a:defRPr>
            </a:pPr>
            <a:r>
              <a:rPr sz="1425" b="1">
                <a:solidFill>
                  <a:srgbClr val="0C9A9A"/>
                </a:solidFill>
              </a:rPr>
              <a:t>核心目标：减少 HR 重复录入、减少数据遗漏、实时同步招聘数据。</a:t>
            </a:r>
            <a:endParaRPr sz="1425" b="1">
              <a:solidFill>
                <a:srgbClr val="0C9A9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6400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HR 招聘数据自动录入助手 Demo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0" y="64008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  <a:endParaRPr sz="975" b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Recruiting SaaS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0878D8"/>
      </a:accent1>
      <a:accent2>
        <a:srgbClr val="0C9A9A"/>
      </a:accent2>
      <a:accent3>
        <a:srgbClr val="D97706"/>
      </a:accent3>
      <a:accent4>
        <a:srgbClr val="C2413A"/>
      </a:accent4>
      <a:accent5>
        <a:srgbClr val="16A34A"/>
      </a:accent5>
      <a:accent6>
        <a:srgbClr val="475569"/>
      </a:accent6>
      <a:hlink>
        <a:srgbClr val="0878D8"/>
      </a:hlink>
      <a:folHlink>
        <a:srgbClr val="0C9A9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cruiting Saa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Recruiting SaaS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0878D8"/>
      </a:accent1>
      <a:accent2>
        <a:srgbClr val="0C9A9A"/>
      </a:accent2>
      <a:accent3>
        <a:srgbClr val="D97706"/>
      </a:accent3>
      <a:accent4>
        <a:srgbClr val="C2413A"/>
      </a:accent4>
      <a:accent5>
        <a:srgbClr val="16A34A"/>
      </a:accent5>
      <a:accent6>
        <a:srgbClr val="475569"/>
      </a:accent6>
      <a:hlink>
        <a:srgbClr val="0878D8"/>
      </a:hlink>
      <a:folHlink>
        <a:srgbClr val="0C9A9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cruiting Saa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1632</Words>
  <Application>WPS 演示</Application>
  <PresentationFormat>Converted Presentation</PresentationFormat>
  <Paragraphs>241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Valerie_</cp:lastModifiedBy>
  <cp:revision>2</cp:revision>
  <dcterms:created xsi:type="dcterms:W3CDTF">2026-06-25T07:47:53Z</dcterms:created>
  <dcterms:modified xsi:type="dcterms:W3CDTF">2026-06-25T07:48:08Z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ECDE03B9A72A47C496742A99FEBED080_12</vt:lpwstr>
  </property>
  <property fmtid="{D5CDD505-2E9C-101B-9397-08002B2CF9AE}" pid="3" name="KSOProductBuildVer">
    <vt:lpwstr>2052-12.1.0.26895</vt:lpwstr>
  </property>
</Properties>
</file>